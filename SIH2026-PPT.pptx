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24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2C36C-8C99-B249-AB27-F3C53058D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7F00B-650C-6949-9002-9A86FEAB9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0E6AE-8D2B-D84D-B4A7-861C50851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6E064-1EDF-E94D-8A20-7EB77CD3E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1228D-14E1-3743-B440-4150610A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19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91DD-2037-5D42-A9D3-C9BD50630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B34C1-4278-9B46-A4D0-971F0F06C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9530D-25B7-A345-AB0B-90C19D309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3EA50-66F5-284B-B02E-ECC735ACA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4FC7B-9667-7941-9826-B4518AB8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2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004A-3E9A-8545-AE33-A95DDC8E9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6E6F-29FE-334E-B9F2-D286AA38B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59D6A-7027-724A-9B69-D80E512AA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4EC6A-3ACE-B040-ABC0-380235D45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18EB2-8C5B-9F4A-B26A-5E8A2BF9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8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064DC-DA5C-454C-B684-33769721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854C6-1963-AB47-A8BC-9B95499B9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2CBBE-6F2A-B842-BC52-7BB913C96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B00BA-2D80-1445-8CDF-DF473F013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E073F-0B07-744F-9B99-0BEA377D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B685E-9B26-4943-9516-E19145E1D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4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C891-B51A-684E-9AD5-143D5A56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A9E1D-36C4-2744-B0A1-866003F70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86AA4-6C55-5D43-B45D-E751FA375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33A0A-7099-B549-B40A-C024B718C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E34D6E-50AA-3740-9D09-7FFC51C93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DC8DF-9405-6444-AF1C-A166BD56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F961C5-10DB-7948-BEAB-664E0AFB8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8C7DA1-E63B-B74C-8D63-C7517820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1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077-578F-B34E-9EB9-ED79D10A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9E94B-D474-4E46-A924-3F6AF77F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62279D-2E30-734F-BAEB-8017FE17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6E7EB-6B20-1348-8FB2-2961810B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1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E110EF-D6D4-0A43-93A0-3A5A803B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9E23D6-7178-5D4D-A910-F46D3200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50BE4-AD59-4E4D-9F8E-0EF0D123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1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E6999-4147-8147-96EC-381B24CC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7A25F-3A41-744C-BE6F-57A153EF2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351BD-5FC1-784D-88E3-4477B259E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C8D43-6C07-E144-831F-D29FF30F0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D005D-FFCF-C64E-9297-D7B2DCF5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E99B3-D314-454C-9AC3-C543EBD0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11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4300-6F50-1D45-82FF-ED9308957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C1EA82-78D7-1B4C-A89A-4AADC442A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9EE57-A25C-5043-8339-F7E97C339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D5122-2837-ED4A-B511-8F75C822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1671D-7E6E-594F-9BDB-E799C17B4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4BB8C-29A1-A749-9B2A-1E9C6510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8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5849-9A6F-7D4D-8F95-CBA8C0D4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9665D-4CA4-A048-940F-3FEE648B7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F4B-C764-0442-AFCE-667C7460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8DF88-0D6D-E041-8A9D-4A486C41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4DEDB-88F7-CD4B-8A30-88654ACD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8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9EB80-C469-F645-AFB8-AD42D0346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648F3-07CE-2043-9163-5CAE05AC2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A2221-4831-E041-AEE3-C777DBB1E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C72C2-A158-A740-A9B9-51AA99EA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7E39B-C991-364E-8959-AB2CBF5C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4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1F1DD4-30B8-6840-B4F4-45853BD5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2DC72-CCB9-2144-891A-5BE3CF457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B31B7-525A-ED43-814E-5C53E96ED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A9602-A9A9-453F-AEF1-37B5837E02CD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2708-A563-034A-BE55-E52BFFA8A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6345F-BAF1-9149-82C5-579A07093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5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408903"/>
            <a:ext cx="6245291" cy="4622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  <a:cs typeface="Arial" panose="020B0604020202020204" pitchFamily="34" charset="0"/>
              </a:rPr>
              <a:t>Problem Statement ID – </a:t>
            </a:r>
            <a:r>
              <a:rPr lang="en-IN" sz="2000" b="0" i="0" dirty="0">
                <a:solidFill>
                  <a:srgbClr val="E5E7EB"/>
                </a:solidFill>
                <a:effectLst/>
                <a:latin typeface="+mn-lt"/>
              </a:rPr>
              <a:t> </a:t>
            </a:r>
            <a:r>
              <a:rPr lang="en-IN" sz="2000" b="1" i="0" dirty="0">
                <a:effectLst/>
                <a:latin typeface="+mn-lt"/>
              </a:rPr>
              <a:t>SIH_DT_2026</a:t>
            </a:r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  <a:cs typeface="Arial" panose="020B0604020202020204" pitchFamily="34" charset="0"/>
              </a:rPr>
              <a:t>Problem Statement Title - </a:t>
            </a:r>
            <a:r>
              <a:rPr lang="en-IN" sz="2000" b="0" i="0" dirty="0">
                <a:effectLst/>
                <a:latin typeface="+mn-lt"/>
              </a:rPr>
              <a:t>Digital Twin Framework for MALE UAV Aero Piston Engines</a:t>
            </a:r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  <a:cs typeface="Arial" panose="020B0604020202020204" pitchFamily="34" charset="0"/>
              </a:rPr>
              <a:t>Theme - </a:t>
            </a:r>
            <a:r>
              <a:rPr lang="en-IN" sz="2000" b="0" i="0" dirty="0">
                <a:solidFill>
                  <a:srgbClr val="E5E7EB"/>
                </a:solidFill>
                <a:effectLst/>
                <a:latin typeface="Urbanist"/>
              </a:rPr>
              <a:t>Aviation &amp; Defence Technology</a:t>
            </a:r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  <a:cs typeface="Arial" panose="020B0604020202020204" pitchFamily="34" charset="0"/>
              </a:rPr>
              <a:t>PS Category - 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  <a:cs typeface="Arial" panose="020B0604020202020204" pitchFamily="34" charset="0"/>
              </a:rPr>
              <a:t>Team ID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  <a:cs typeface="Arial" panose="020B0604020202020204" pitchFamily="34" charset="0"/>
              </a:rPr>
              <a:t>Team Name (Registered on portal)</a:t>
            </a:r>
            <a:endParaRPr lang="en-IN" sz="2000" b="1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590835" y="238352"/>
            <a:ext cx="3010328" cy="61851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952571"/>
            <a:ext cx="7150813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algn="l"/>
            <a:r>
              <a:rPr lang="en-IN" sz="2000" b="0" i="0" dirty="0" err="1">
                <a:solidFill>
                  <a:srgbClr val="1E293B"/>
                </a:solidFill>
                <a:effectLst/>
                <a:latin typeface="+mn-lt"/>
              </a:rPr>
              <a:t>AeroTwin</a:t>
            </a:r>
            <a:r>
              <a:rPr lang="en-IN" sz="2000" b="0" i="0" dirty="0">
                <a:solidFill>
                  <a:srgbClr val="1E293B"/>
                </a:solidFill>
                <a:effectLst/>
                <a:latin typeface="+mn-lt"/>
              </a:rPr>
              <a:t> AI is a centralized Digital Twin framework that acts as a continuous virtual mirror of an aero-piston engine operating onboard a MALE UAV. The 	solution 	functions as follows: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F172A"/>
                </a:solidFill>
                <a:effectLst/>
                <a:latin typeface="+mn-lt"/>
              </a:rPr>
              <a:t>Real-Time Telemetry Ingestion:</a:t>
            </a:r>
            <a:r>
              <a:rPr lang="en-IN" sz="2000" b="0" i="0" dirty="0">
                <a:solidFill>
                  <a:srgbClr val="1E293B"/>
                </a:solidFill>
                <a:effectLst/>
                <a:latin typeface="+mn-lt"/>
              </a:rPr>
              <a:t> Captures high-frequency sensor data (RPM, CHT, EGT, Vibration) via CAN bus &amp; MQTT pipelines.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F172A"/>
                </a:solidFill>
                <a:effectLst/>
                <a:latin typeface="+mn-lt"/>
              </a:rPr>
              <a:t>Hybrid AI Architecture:</a:t>
            </a:r>
            <a:r>
              <a:rPr lang="en-IN" sz="2000" b="0" i="0" dirty="0">
                <a:solidFill>
                  <a:srgbClr val="1E293B"/>
                </a:solidFill>
                <a:effectLst/>
                <a:latin typeface="+mn-lt"/>
              </a:rPr>
              <a:t> Combines thermodynamic physics models with deep learning (</a:t>
            </a:r>
            <a:r>
              <a:rPr lang="en-IN" sz="2000" b="0" i="0" dirty="0" err="1">
                <a:solidFill>
                  <a:srgbClr val="1E293B"/>
                </a:solidFill>
                <a:effectLst/>
                <a:latin typeface="+mn-lt"/>
              </a:rPr>
              <a:t>PyTorch</a:t>
            </a:r>
            <a:r>
              <a:rPr lang="en-IN" sz="2000" b="0" i="0" dirty="0">
                <a:solidFill>
                  <a:srgbClr val="1E293B"/>
                </a:solidFill>
                <a:effectLst/>
                <a:latin typeface="+mn-lt"/>
              </a:rPr>
              <a:t>) to evaluate health indices.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F172A"/>
                </a:solidFill>
                <a:effectLst/>
                <a:latin typeface="+mn-lt"/>
              </a:rPr>
              <a:t>Predictive Diagnostics:</a:t>
            </a:r>
            <a:r>
              <a:rPr lang="en-IN" sz="2000" b="0" i="0" dirty="0">
                <a:solidFill>
                  <a:srgbClr val="1E293B"/>
                </a:solidFill>
                <a:effectLst/>
                <a:latin typeface="+mn-lt"/>
              </a:rPr>
              <a:t> Estimates Remaining Useful Life (RUL) and flags degradation trends before threshold breaches.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F172A"/>
                </a:solidFill>
                <a:effectLst/>
                <a:latin typeface="+mn-lt"/>
              </a:rPr>
              <a:t>Mission Replay HMI:</a:t>
            </a:r>
            <a:r>
              <a:rPr lang="en-IN" sz="2000" b="0" i="0" dirty="0">
                <a:solidFill>
                  <a:srgbClr val="1E293B"/>
                </a:solidFill>
                <a:effectLst/>
                <a:latin typeface="+mn-lt"/>
              </a:rPr>
              <a:t> Empowers propulsion engineers to reconstruct flights and </a:t>
            </a:r>
            <a:r>
              <a:rPr lang="en-IN" sz="2000" b="0" i="0" dirty="0" err="1">
                <a:solidFill>
                  <a:srgbClr val="1E293B"/>
                </a:solidFill>
                <a:effectLst/>
                <a:latin typeface="+mn-lt"/>
              </a:rPr>
              <a:t>analyze</a:t>
            </a:r>
            <a:r>
              <a:rPr lang="en-IN" sz="2000" b="0" i="0" dirty="0">
                <a:solidFill>
                  <a:srgbClr val="1E293B"/>
                </a:solidFill>
                <a:effectLst/>
                <a:latin typeface="+mn-lt"/>
              </a:rPr>
              <a:t> hot-weather/altitude stress.</a:t>
            </a:r>
          </a:p>
          <a:p>
            <a:endParaRPr lang="en-US" sz="2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5158" y="1439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87821E-C99C-0B41-964D-3F038CA559A2}"/>
              </a:ext>
            </a:extLst>
          </p:cNvPr>
          <p:cNvSpPr txBox="1"/>
          <p:nvPr/>
        </p:nvSpPr>
        <p:spPr>
          <a:xfrm>
            <a:off x="7532138" y="1376454"/>
            <a:ext cx="4224122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N" sz="2000" b="1" i="0" dirty="0">
                <a:solidFill>
                  <a:srgbClr val="002060"/>
                </a:solidFill>
                <a:effectLst/>
                <a:latin typeface="+mn-lt"/>
              </a:rPr>
              <a:t>Problem Resolution:</a:t>
            </a:r>
          </a:p>
          <a:p>
            <a:pPr algn="l"/>
            <a:r>
              <a:rPr lang="en-IN" sz="2000" b="0" i="0" dirty="0">
                <a:solidFill>
                  <a:srgbClr val="1E293B"/>
                </a:solidFill>
                <a:effectLst/>
                <a:latin typeface="+mn-lt"/>
              </a:rPr>
              <a:t>Transitions UAV monitoring from dangerous, reactive threshold alarms to proactive, AI-driven predictive maintenance, preventing mid-air asset loss.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150A1-8F43-2040-8478-413EC8890EED}"/>
              </a:ext>
            </a:extLst>
          </p:cNvPr>
          <p:cNvSpPr txBox="1"/>
          <p:nvPr/>
        </p:nvSpPr>
        <p:spPr>
          <a:xfrm>
            <a:off x="7532138" y="3446980"/>
            <a:ext cx="4224122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N" sz="2000" b="1" i="0" dirty="0">
                <a:solidFill>
                  <a:srgbClr val="002060"/>
                </a:solidFill>
                <a:effectLst/>
              </a:rPr>
              <a:t>Unique Value Propositions:</a:t>
            </a:r>
          </a:p>
          <a:p>
            <a:pPr algn="l"/>
            <a:r>
              <a:rPr lang="en-IN" sz="2000" b="0" i="0" dirty="0">
                <a:solidFill>
                  <a:srgbClr val="1E293B"/>
                </a:solidFill>
                <a:effectLst/>
              </a:rPr>
              <a:t>• Physics-Informed AI reduces false positives.</a:t>
            </a:r>
            <a:br>
              <a:rPr lang="en-IN" sz="2000" b="0" i="0" dirty="0">
                <a:solidFill>
                  <a:srgbClr val="1E293B"/>
                </a:solidFill>
                <a:effectLst/>
              </a:rPr>
            </a:br>
            <a:r>
              <a:rPr lang="en-IN" sz="2000" b="0" i="0" dirty="0">
                <a:solidFill>
                  <a:srgbClr val="1E293B"/>
                </a:solidFill>
                <a:effectLst/>
              </a:rPr>
              <a:t>• Explainable AI (XAI) pinpoints exact root causes.</a:t>
            </a:r>
            <a:br>
              <a:rPr lang="en-IN" sz="2000" b="0" i="0" dirty="0">
                <a:solidFill>
                  <a:srgbClr val="1E293B"/>
                </a:solidFill>
                <a:effectLst/>
              </a:rPr>
            </a:br>
            <a:r>
              <a:rPr lang="en-IN" sz="2000" b="0" i="0" dirty="0">
                <a:solidFill>
                  <a:srgbClr val="1E293B"/>
                </a:solidFill>
                <a:effectLst/>
              </a:rPr>
              <a:t>• Edge-to-Ground bandwidth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27368" y="-68193"/>
            <a:ext cx="5737261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50499" y="6030076"/>
            <a:ext cx="27432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4128" y="19092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81E55F-1A41-6B41-8092-863C6C2120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455" t="16654" r="54851" b="7015"/>
          <a:stretch/>
        </p:blipFill>
        <p:spPr>
          <a:xfrm>
            <a:off x="0" y="1135706"/>
            <a:ext cx="5406529" cy="51787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C1F089-CBE0-694D-887B-4476F8F4D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4036" y="1144500"/>
            <a:ext cx="6565900" cy="48049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88999" y="-6869"/>
            <a:ext cx="70140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B0344D-004D-8B44-8EBD-D752BBE93A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70" t="3683" r="7913" b="20507"/>
          <a:stretch/>
        </p:blipFill>
        <p:spPr>
          <a:xfrm>
            <a:off x="0" y="1633590"/>
            <a:ext cx="5965782" cy="3842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03A9C6-03DD-D848-9E8A-EAA4AAC5B9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782" y="1633592"/>
            <a:ext cx="6248589" cy="359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496725" y="143714"/>
            <a:ext cx="5506949" cy="72891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02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7EDEA5-4343-1A48-AE23-E61DCC80CC28}"/>
              </a:ext>
            </a:extLst>
          </p:cNvPr>
          <p:cNvSpPr txBox="1"/>
          <p:nvPr/>
        </p:nvSpPr>
        <p:spPr>
          <a:xfrm>
            <a:off x="6250200" y="2994758"/>
            <a:ext cx="560595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N" sz="1600" b="1" i="0" dirty="0">
                <a:solidFill>
                  <a:schemeClr val="tx2"/>
                </a:solidFill>
                <a:effectLst/>
              </a:rPr>
              <a:t>Operational Reliability &amp; Mission Success</a:t>
            </a:r>
          </a:p>
          <a:p>
            <a:pPr algn="l"/>
            <a:r>
              <a:rPr lang="en-IN" sz="1600" b="1" i="0" dirty="0">
                <a:effectLst/>
              </a:rPr>
              <a:t>Impact:</a:t>
            </a:r>
            <a:r>
              <a:rPr lang="en-IN" sz="1600" b="0" i="0" dirty="0">
                <a:effectLst/>
              </a:rPr>
              <a:t> Real-time digital twin monitoring and anomaly detection for aero piston engines.</a:t>
            </a:r>
          </a:p>
          <a:p>
            <a:pPr algn="l"/>
            <a:r>
              <a:rPr lang="en-IN" sz="1600" b="1" i="0" dirty="0">
                <a:effectLst/>
              </a:rPr>
              <a:t>Benefit:</a:t>
            </a:r>
            <a:r>
              <a:rPr lang="en-IN" sz="1600" b="0" i="0" dirty="0">
                <a:effectLst/>
              </a:rPr>
              <a:t> Maximizes MALE UAV mission success rates and prevents critical mid-air engine failures</a:t>
            </a:r>
            <a:r>
              <a:rPr lang="en-IN" sz="1600" b="0" i="0" dirty="0">
                <a:solidFill>
                  <a:srgbClr val="CBD5E1"/>
                </a:solidFill>
                <a:effectLst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2A8A6-D72B-E349-98A4-73D3490DCDC8}"/>
              </a:ext>
            </a:extLst>
          </p:cNvPr>
          <p:cNvSpPr txBox="1"/>
          <p:nvPr/>
        </p:nvSpPr>
        <p:spPr>
          <a:xfrm>
            <a:off x="6250200" y="1201242"/>
            <a:ext cx="560595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N" sz="1600" b="1" i="0" dirty="0">
                <a:solidFill>
                  <a:schemeClr val="tx2"/>
                </a:solidFill>
                <a:effectLst/>
              </a:rPr>
              <a:t>Predictive Maintenance &amp; Fleet Readiness</a:t>
            </a:r>
          </a:p>
          <a:p>
            <a:pPr algn="l"/>
            <a:r>
              <a:rPr lang="en-IN" sz="1600" b="1" i="0" dirty="0">
                <a:effectLst/>
              </a:rPr>
              <a:t>Impact:</a:t>
            </a:r>
            <a:r>
              <a:rPr lang="en-IN" sz="1600" b="0" i="0" dirty="0">
                <a:effectLst/>
              </a:rPr>
              <a:t> AI-driven Remaining Useful Life (RUL) estimation and proactive fault prediction.</a:t>
            </a:r>
          </a:p>
          <a:p>
            <a:pPr algn="l"/>
            <a:r>
              <a:rPr lang="en-IN" sz="1600" b="1" i="0" dirty="0">
                <a:effectLst/>
              </a:rPr>
              <a:t>Benefit:</a:t>
            </a:r>
            <a:r>
              <a:rPr lang="en-IN" sz="1600" b="0" i="0" dirty="0">
                <a:effectLst/>
              </a:rPr>
              <a:t> Shifts maintenance from fixed intervals to condition-based servicing, drastically reducing unpredicted downtime and boosting fleet availability.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7C3FC-B34D-8545-9AE1-0117AB231D4D}"/>
              </a:ext>
            </a:extLst>
          </p:cNvPr>
          <p:cNvSpPr txBox="1"/>
          <p:nvPr/>
        </p:nvSpPr>
        <p:spPr>
          <a:xfrm>
            <a:off x="3293021" y="4571771"/>
            <a:ext cx="560595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N" sz="1600" b="1" i="0" dirty="0">
                <a:solidFill>
                  <a:schemeClr val="tx2"/>
                </a:solidFill>
                <a:effectLst/>
                <a:latin typeface="+mn-lt"/>
              </a:rPr>
              <a:t>Cost Efficiency &amp; Resource Optimization</a:t>
            </a:r>
          </a:p>
          <a:p>
            <a:pPr algn="l"/>
            <a:r>
              <a:rPr lang="en-IN" sz="1600" b="1" i="0" dirty="0">
                <a:effectLst/>
                <a:latin typeface="+mn-lt"/>
              </a:rPr>
              <a:t>Impact:</a:t>
            </a:r>
            <a:r>
              <a:rPr lang="en-IN" sz="1600" b="0" i="0" dirty="0">
                <a:effectLst/>
                <a:latin typeface="+mn-lt"/>
              </a:rPr>
              <a:t> Early detection of minor mechanical stress, overheating, and component wear.</a:t>
            </a:r>
          </a:p>
          <a:p>
            <a:pPr algn="l"/>
            <a:r>
              <a:rPr lang="en-IN" sz="1600" b="1" i="0" dirty="0">
                <a:effectLst/>
                <a:latin typeface="+mn-lt"/>
              </a:rPr>
              <a:t>Benefit:</a:t>
            </a:r>
            <a:r>
              <a:rPr lang="en-IN" sz="1600" b="0" i="0" dirty="0">
                <a:effectLst/>
                <a:latin typeface="+mn-lt"/>
              </a:rPr>
              <a:t> Prevents catastrophic engine loss, extends overall propulsion system lifespan, and significantly lowers maintenance/replacement expenditures.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99FF2-C710-C244-93C3-41089D32749B}"/>
              </a:ext>
            </a:extLst>
          </p:cNvPr>
          <p:cNvSpPr txBox="1"/>
          <p:nvPr/>
        </p:nvSpPr>
        <p:spPr>
          <a:xfrm>
            <a:off x="329773" y="1177148"/>
            <a:ext cx="5605957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N" sz="1600" b="1" i="0" dirty="0">
                <a:solidFill>
                  <a:schemeClr val="tx2"/>
                </a:solidFill>
                <a:effectLst/>
              </a:rPr>
              <a:t>Data-Driven Decision Making</a:t>
            </a:r>
          </a:p>
          <a:p>
            <a:pPr algn="l"/>
            <a:r>
              <a:rPr lang="en-IN" sz="1600" b="1" i="0" dirty="0">
                <a:effectLst/>
              </a:rPr>
              <a:t>Impact:</a:t>
            </a:r>
            <a:r>
              <a:rPr lang="en-IN" sz="1600" b="0" i="0" dirty="0">
                <a:effectLst/>
              </a:rPr>
              <a:t> Continuous sensor telemetries synthesized into high-fidelity physics-AI hybrid simulations.</a:t>
            </a:r>
          </a:p>
          <a:p>
            <a:pPr algn="l"/>
            <a:r>
              <a:rPr lang="en-IN" sz="1600" b="1" i="0" dirty="0">
                <a:effectLst/>
              </a:rPr>
              <a:t>Benefit:</a:t>
            </a:r>
            <a:r>
              <a:rPr lang="en-IN" sz="1600" b="0" i="0" dirty="0">
                <a:effectLst/>
              </a:rPr>
              <a:t> Provides ground control operators and defence engineers with actionable, real-time diagnostic insights for smarter tactical decisions.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9FF841-EBF0-9C4B-8278-1FB992A903F5}"/>
              </a:ext>
            </a:extLst>
          </p:cNvPr>
          <p:cNvSpPr txBox="1"/>
          <p:nvPr/>
        </p:nvSpPr>
        <p:spPr>
          <a:xfrm>
            <a:off x="329773" y="2992184"/>
            <a:ext cx="5605958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N" sz="1600" b="1" i="0" dirty="0">
                <a:solidFill>
                  <a:schemeClr val="tx2"/>
                </a:solidFill>
                <a:effectLst/>
                <a:latin typeface="Urbanist"/>
              </a:rPr>
              <a:t>Scalability &amp; Strategic Value</a:t>
            </a:r>
          </a:p>
          <a:p>
            <a:pPr algn="l"/>
            <a:r>
              <a:rPr lang="en-IN" sz="1600" b="1" i="0" dirty="0">
                <a:solidFill>
                  <a:schemeClr val="tx1"/>
                </a:solidFill>
                <a:effectLst/>
                <a:latin typeface="Urbanist"/>
              </a:rPr>
              <a:t>Impact:</a:t>
            </a:r>
            <a:r>
              <a:rPr lang="en-IN" sz="1600" b="0" i="0" dirty="0">
                <a:solidFill>
                  <a:schemeClr val="tx1"/>
                </a:solidFill>
                <a:effectLst/>
                <a:latin typeface="Urbanist"/>
              </a:rPr>
              <a:t> Modular twin architecture adaptable to diverse engine models and UAV configurations.</a:t>
            </a:r>
          </a:p>
          <a:p>
            <a:pPr algn="l"/>
            <a:r>
              <a:rPr lang="en-IN" sz="1600" b="1" i="0" dirty="0">
                <a:solidFill>
                  <a:schemeClr val="tx1"/>
                </a:solidFill>
                <a:effectLst/>
                <a:latin typeface="Urbanist"/>
              </a:rPr>
              <a:t>Benefit:</a:t>
            </a:r>
            <a:r>
              <a:rPr lang="en-IN" sz="1600" b="0" i="0" dirty="0">
                <a:solidFill>
                  <a:schemeClr val="tx1"/>
                </a:solidFill>
                <a:effectLst/>
                <a:latin typeface="Urbanist"/>
              </a:rPr>
              <a:t> Enhances indigenous defence tech capabilities and seamlessly scales across civilian and military UAV operations.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28726" y="217837"/>
            <a:ext cx="7134546" cy="68329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7538" y="1395246"/>
            <a:ext cx="7876854" cy="1877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455A64"/>
                </a:solidFill>
                <a:effectLst/>
                <a:latin typeface="+mn-lt"/>
              </a:rPr>
              <a:t>Data Research: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NASA Prognostics Data Repository (C-MAPSS Turbojet/Turbofan datasets).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Link - https://</a:t>
            </a:r>
            <a:r>
              <a:rPr lang="en-IN" sz="1600" b="0" i="0" dirty="0" err="1">
                <a:solidFill>
                  <a:srgbClr val="1E293B"/>
                </a:solidFill>
                <a:effectLst/>
                <a:latin typeface="+mn-lt"/>
              </a:rPr>
              <a:t>data.nasa.gov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/dataset/</a:t>
            </a:r>
            <a:r>
              <a:rPr lang="en-IN" sz="1600" b="0" i="0" dirty="0" err="1">
                <a:solidFill>
                  <a:srgbClr val="1E293B"/>
                </a:solidFill>
                <a:effectLst/>
                <a:latin typeface="+mn-lt"/>
              </a:rPr>
              <a:t>cmapss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-jet-engine-simulated-data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IC Engine Thermodynamic Efficiency &amp; EGT correlations.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E293B"/>
                </a:solidFill>
                <a:latin typeface="+mn-lt"/>
              </a:rPr>
              <a:t>Link - https://</a:t>
            </a:r>
            <a:r>
              <a:rPr lang="en-IN" sz="1600" dirty="0" err="1">
                <a:solidFill>
                  <a:srgbClr val="1E293B"/>
                </a:solidFill>
                <a:latin typeface="+mn-lt"/>
              </a:rPr>
              <a:t>www.sciencedirect.com</a:t>
            </a:r>
            <a:r>
              <a:rPr lang="en-IN" sz="1600" dirty="0">
                <a:solidFill>
                  <a:srgbClr val="1E293B"/>
                </a:solidFill>
                <a:latin typeface="+mn-lt"/>
              </a:rPr>
              <a:t>/science/article/abs/</a:t>
            </a:r>
            <a:r>
              <a:rPr lang="en-IN" sz="1600" dirty="0" err="1">
                <a:solidFill>
                  <a:srgbClr val="1E293B"/>
                </a:solidFill>
                <a:latin typeface="+mn-lt"/>
              </a:rPr>
              <a:t>pii</a:t>
            </a:r>
            <a:r>
              <a:rPr lang="en-IN" sz="1600" dirty="0">
                <a:solidFill>
                  <a:srgbClr val="1E293B"/>
                </a:solidFill>
                <a:latin typeface="+mn-lt"/>
              </a:rPr>
              <a:t>/S0196890412000210</a:t>
            </a:r>
            <a:endParaRPr lang="en-IN" sz="1600" b="0" i="0" dirty="0">
              <a:solidFill>
                <a:srgbClr val="1E293B"/>
              </a:solidFill>
              <a:effectLst/>
              <a:latin typeface="+mn-lt"/>
            </a:endParaRP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UAV CAN bus &amp; </a:t>
            </a:r>
            <a:r>
              <a:rPr lang="en-IN" sz="1600" b="0" i="0" dirty="0" err="1">
                <a:solidFill>
                  <a:srgbClr val="1E293B"/>
                </a:solidFill>
                <a:effectLst/>
                <a:latin typeface="+mn-lt"/>
              </a:rPr>
              <a:t>MAVLink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 telemetry protocol specifications.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E293B"/>
                </a:solidFill>
                <a:latin typeface="+mn-lt"/>
              </a:rPr>
              <a:t>Link - https://</a:t>
            </a:r>
            <a:r>
              <a:rPr lang="en-IN" sz="1600" dirty="0" err="1">
                <a:solidFill>
                  <a:srgbClr val="1E293B"/>
                </a:solidFill>
                <a:latin typeface="+mn-lt"/>
              </a:rPr>
              <a:t>mavlink.io</a:t>
            </a:r>
            <a:r>
              <a:rPr lang="en-IN" sz="1600" dirty="0">
                <a:solidFill>
                  <a:srgbClr val="1E293B"/>
                </a:solidFill>
                <a:latin typeface="+mn-lt"/>
              </a:rPr>
              <a:t>/</a:t>
            </a:r>
            <a:r>
              <a:rPr lang="en-IN" sz="1600" dirty="0" err="1">
                <a:solidFill>
                  <a:srgbClr val="1E293B"/>
                </a:solidFill>
                <a:latin typeface="+mn-lt"/>
              </a:rPr>
              <a:t>en</a:t>
            </a:r>
            <a:r>
              <a:rPr lang="en-IN" sz="1600" dirty="0">
                <a:solidFill>
                  <a:srgbClr val="1E293B"/>
                </a:solidFill>
                <a:latin typeface="+mn-lt"/>
              </a:rPr>
              <a:t>/guide/</a:t>
            </a:r>
            <a:r>
              <a:rPr lang="en-IN" sz="1600" dirty="0" err="1">
                <a:solidFill>
                  <a:srgbClr val="1E293B"/>
                </a:solidFill>
                <a:latin typeface="+mn-lt"/>
              </a:rPr>
              <a:t>uavcan_interaction.html</a:t>
            </a:r>
            <a:endParaRPr lang="en-IN" sz="1600" b="0" i="0" dirty="0">
              <a:solidFill>
                <a:srgbClr val="1E293B"/>
              </a:solidFill>
              <a:effectLst/>
              <a:latin typeface="+mn-lt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3611" y="18196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270EC2-6849-8044-96E2-44CACFE5A9BE}"/>
              </a:ext>
            </a:extLst>
          </p:cNvPr>
          <p:cNvSpPr txBox="1"/>
          <p:nvPr/>
        </p:nvSpPr>
        <p:spPr>
          <a:xfrm>
            <a:off x="157538" y="3729519"/>
            <a:ext cx="7876854" cy="21544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N" sz="2000" b="1" i="0" dirty="0">
                <a:solidFill>
                  <a:srgbClr val="455A64"/>
                </a:solidFill>
                <a:effectLst/>
                <a:latin typeface="+mn-lt"/>
              </a:rPr>
              <a:t>Technology Research: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dirty="0" err="1">
                <a:solidFill>
                  <a:srgbClr val="1E293B"/>
                </a:solidFill>
                <a:effectLst/>
                <a:latin typeface="+mn-lt"/>
              </a:rPr>
              <a:t>FastAPI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 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E293B"/>
                </a:solidFill>
                <a:latin typeface="+mn-lt"/>
              </a:rPr>
              <a:t>Link -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 https://</a:t>
            </a:r>
            <a:r>
              <a:rPr lang="en-IN" sz="1600" b="0" i="0" dirty="0" err="1">
                <a:solidFill>
                  <a:srgbClr val="1E293B"/>
                </a:solidFill>
                <a:effectLst/>
                <a:latin typeface="+mn-lt"/>
              </a:rPr>
              <a:t>fastapi.tiangolo.com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/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dirty="0" err="1">
                <a:solidFill>
                  <a:srgbClr val="1E293B"/>
                </a:solidFill>
                <a:effectLst/>
                <a:latin typeface="+mn-lt"/>
              </a:rPr>
              <a:t>PyTorch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 Deep Learning &amp; PINNs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E293B"/>
                </a:solidFill>
                <a:latin typeface="+mn-lt"/>
              </a:rPr>
              <a:t>Link -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 https://</a:t>
            </a:r>
            <a:r>
              <a:rPr lang="en-IN" sz="1600" b="0" i="0" dirty="0" err="1">
                <a:solidFill>
                  <a:srgbClr val="1E293B"/>
                </a:solidFill>
                <a:effectLst/>
                <a:latin typeface="+mn-lt"/>
              </a:rPr>
              <a:t>pytorch.org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/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dirty="0" err="1">
                <a:solidFill>
                  <a:srgbClr val="1E293B"/>
                </a:solidFill>
                <a:effectLst/>
                <a:latin typeface="+mn-lt"/>
              </a:rPr>
              <a:t>InfluxDB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 Time-Series Optimization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E293B"/>
                </a:solidFill>
                <a:latin typeface="+mn-lt"/>
              </a:rPr>
              <a:t>Link -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 https://</a:t>
            </a:r>
            <a:r>
              <a:rPr lang="en-IN" sz="1600" b="0" i="0" dirty="0" err="1">
                <a:solidFill>
                  <a:srgbClr val="1E293B"/>
                </a:solidFill>
                <a:effectLst/>
                <a:latin typeface="+mn-lt"/>
              </a:rPr>
              <a:t>influxdata.com</a:t>
            </a:r>
            <a:r>
              <a:rPr lang="en-IN" sz="1600" b="0" i="0" dirty="0">
                <a:solidFill>
                  <a:srgbClr val="1E293B"/>
                </a:solidFill>
                <a:effectLst/>
                <a:latin typeface="+mn-lt"/>
              </a:rPr>
              <a:t>/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654B1-82AA-9D4D-BB16-7B02300219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033" b="5033"/>
          <a:stretch/>
        </p:blipFill>
        <p:spPr>
          <a:xfrm>
            <a:off x="7852200" y="1395245"/>
            <a:ext cx="4076700" cy="448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7624</TotalTime>
  <Words>577</Words>
  <Application>Microsoft Macintosh PowerPoint</Application>
  <PresentationFormat>Widescreen</PresentationFormat>
  <Paragraphs>71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Garamond</vt:lpstr>
      <vt:lpstr>Times New Roman</vt:lpstr>
      <vt:lpstr>TradeGothic</vt:lpstr>
      <vt:lpstr>Urbanist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Microsoft Office User</cp:lastModifiedBy>
  <cp:revision>149</cp:revision>
  <dcterms:created xsi:type="dcterms:W3CDTF">2013-12-12T18:46:50Z</dcterms:created>
  <dcterms:modified xsi:type="dcterms:W3CDTF">2026-09-01T18:47:05Z</dcterms:modified>
  <cp:category/>
</cp:coreProperties>
</file>